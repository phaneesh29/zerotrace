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3"/>
    <p:restoredTop sz="94667"/>
  </p:normalViewPr>
  <p:slideViewPr>
    <p:cSldViewPr snapToGrid="0">
      <p:cViewPr varScale="1">
        <p:scale>
          <a:sx n="110" d="100"/>
          <a:sy n="110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8B323-E331-E835-F2F1-F031F1724D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D6BE8-B8FA-8318-BC0C-1CCD1E90C1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B3700-2FD9-1692-064A-5BDE2827A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D833-DAEF-2544-9DC8-8A4E9A875075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1C791-3044-D408-51DC-3A317CBC7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221C4-ACBF-FFD8-25B5-69C0A196D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AF5A-40B7-D14F-BDC2-C8F218C58C3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F80696F0-30FE-B5A9-8100-A8FA517A26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5288" y="179750"/>
            <a:ext cx="554332" cy="767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logo with blue text&#10;&#10;AI-generated content may be incorrect.">
            <a:extLst>
              <a:ext uri="{FF2B5EF4-FFF2-40B4-BE49-F238E27FC236}">
                <a16:creationId xmlns:a16="http://schemas.microsoft.com/office/drawing/2014/main" id="{80A68DAF-4D65-C2F7-42E2-8AEFF663BA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66" y="179750"/>
            <a:ext cx="554332" cy="9727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0011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B6AB9-9E84-9587-5066-CF876A8D7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75425-603B-38DF-17CD-44DB408CF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F9E4B-FF1B-62F6-BB14-20C3A7A80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D833-DAEF-2544-9DC8-8A4E9A875075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8937B-7F66-8DEE-D47A-965A4353F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0A05C-E8F9-1CDA-943C-313934B2E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AF5A-40B7-D14F-BDC2-C8F218C58C3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with blue text&#10;&#10;AI-generated content may be incorrect.">
            <a:extLst>
              <a:ext uri="{FF2B5EF4-FFF2-40B4-BE49-F238E27FC236}">
                <a16:creationId xmlns:a16="http://schemas.microsoft.com/office/drawing/2014/main" id="{194B4D19-6C9F-5071-7BC1-48C89AB6BE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0" y="80962"/>
            <a:ext cx="608239" cy="10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B93730B3-C08F-2713-D282-F1AB7D43D6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5288" y="179750"/>
            <a:ext cx="554332" cy="7673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8CB701-C9E1-16E7-7475-F2FA5A6F13F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105156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298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307BE-90F3-450D-C015-5BDD6003A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9595C-CFCB-A99F-5E7F-D5D88D863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A27CE-D34A-ECCB-A321-E9A2BD00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D833-DAEF-2544-9DC8-8A4E9A875075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5E0A9-C9BF-458B-811A-6F8F56215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3EA62-9B52-8C49-2D66-A64CEDC2B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AF5A-40B7-D14F-BDC2-C8F218C58C3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with blue text&#10;&#10;AI-generated content may be incorrect.">
            <a:extLst>
              <a:ext uri="{FF2B5EF4-FFF2-40B4-BE49-F238E27FC236}">
                <a16:creationId xmlns:a16="http://schemas.microsoft.com/office/drawing/2014/main" id="{7962DD91-90AA-83BF-6F8B-2849CF1181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0" y="80962"/>
            <a:ext cx="608239" cy="10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07E87B1D-A1A2-5DC3-599D-0EDD1F242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5288" y="179750"/>
            <a:ext cx="554332" cy="7673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340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27D84-38D5-81F5-A1C6-37BBFCA0E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F6AD7-98F3-D713-0315-80CD5C3B8A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517A7-4376-5C51-263D-14557DECD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4B58C-210B-67D9-B954-EF4FCC59C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D833-DAEF-2544-9DC8-8A4E9A875075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0ED64-2B24-F336-C958-466738F86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043E8-2F08-6AF7-3B3D-FEFFE62D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AF5A-40B7-D14F-BDC2-C8F218C58C3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logo with blue text&#10;&#10;AI-generated content may be incorrect.">
            <a:extLst>
              <a:ext uri="{FF2B5EF4-FFF2-40B4-BE49-F238E27FC236}">
                <a16:creationId xmlns:a16="http://schemas.microsoft.com/office/drawing/2014/main" id="{BB8548E9-EC81-E9BF-BD5D-ADFCB00429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0" y="80962"/>
            <a:ext cx="608239" cy="10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38E457EB-0416-ADBE-B9A0-A4E786E432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5288" y="179750"/>
            <a:ext cx="554332" cy="7673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F9A6D8-E4F0-0E28-F4FD-701DB2E55B8F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105156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7006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976CB-4326-2871-7FB7-4CF68D8E9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69E30-09CF-358F-B508-13A566DF8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AD037-42FA-A5F2-276F-2BCD1B86F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A3AF3-820B-2231-06A4-0B6673A6D8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743CBA-D933-6F24-903F-E0EABE00ED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5B7FE2-218F-5ED3-E9FD-0B4EBC920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D833-DAEF-2544-9DC8-8A4E9A875075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1BFFCF-C50D-2CE2-D276-E51B5CB55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3F7087-CAE1-C821-49DB-0503112DC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AF5A-40B7-D14F-BDC2-C8F218C58C3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logo with blue text&#10;&#10;AI-generated content may be incorrect.">
            <a:extLst>
              <a:ext uri="{FF2B5EF4-FFF2-40B4-BE49-F238E27FC236}">
                <a16:creationId xmlns:a16="http://schemas.microsoft.com/office/drawing/2014/main" id="{5C93EB93-7188-DEFF-8329-5BA0E0226A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0" y="80962"/>
            <a:ext cx="608239" cy="10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15887B93-E72F-15D8-5D37-FF2A082EC0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5288" y="179750"/>
            <a:ext cx="554332" cy="7673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CAC0DFF-A461-5E84-543B-4F1D1DCC189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105156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18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59D3-E17B-4D51-47EB-ED0A20C74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3C82FB-1179-BB95-E761-EFA89977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D833-DAEF-2544-9DC8-8A4E9A875075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2077B8-FBAF-0DF3-E243-1324450B3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94FB11-2633-F0C1-9E02-85C7F45EA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AF5A-40B7-D14F-BDC2-C8F218C58C3B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A logo with blue text&#10;&#10;AI-generated content may be incorrect.">
            <a:extLst>
              <a:ext uri="{FF2B5EF4-FFF2-40B4-BE49-F238E27FC236}">
                <a16:creationId xmlns:a16="http://schemas.microsoft.com/office/drawing/2014/main" id="{9079D415-94A7-C37C-EEB1-2D04F873F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0" y="80962"/>
            <a:ext cx="608239" cy="10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BE3A9754-6287-900A-F5C6-C36056E1F9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5288" y="179750"/>
            <a:ext cx="554332" cy="7673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94842C-7E36-8788-B85E-F3145E8F4BE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105156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8286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080AF3-E9D5-03B9-09DC-2C3C3915A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D833-DAEF-2544-9DC8-8A4E9A875075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09ED59-4243-EA4D-AF84-BCDC031A8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3A03C-1C53-59F7-9BF5-E021B286D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AF5A-40B7-D14F-BDC2-C8F218C58C3B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logo with blue text&#10;&#10;AI-generated content may be incorrect.">
            <a:extLst>
              <a:ext uri="{FF2B5EF4-FFF2-40B4-BE49-F238E27FC236}">
                <a16:creationId xmlns:a16="http://schemas.microsoft.com/office/drawing/2014/main" id="{A8989F02-D3D6-E68A-01C4-C6D211B97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0" y="80962"/>
            <a:ext cx="608239" cy="10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CC55353F-3454-E02C-1F36-8CC752A512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5288" y="179750"/>
            <a:ext cx="554332" cy="7673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9330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24F75-CEB9-93DE-74DF-96934FD76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A46C0-BE5E-0F86-9463-B930A77B2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6CCEC-7FE7-37BE-D105-C2CD9A39A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580F73-A419-3EFB-F43C-B0549BB45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D833-DAEF-2544-9DC8-8A4E9A875075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C454A-2DEB-1997-E671-8EEDF17EA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74A0E-17EF-585E-32F1-B47DA50B9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AF5A-40B7-D14F-BDC2-C8F218C58C3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logo with blue text&#10;&#10;AI-generated content may be incorrect.">
            <a:extLst>
              <a:ext uri="{FF2B5EF4-FFF2-40B4-BE49-F238E27FC236}">
                <a16:creationId xmlns:a16="http://schemas.microsoft.com/office/drawing/2014/main" id="{23A6AEE7-FFAE-8725-39A5-2D719BFB0B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0" y="80962"/>
            <a:ext cx="608239" cy="10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11F52BA4-EADC-464F-83C4-83F0EA2812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5288" y="179750"/>
            <a:ext cx="554332" cy="7673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9952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91B4D-955C-BAE4-95ED-ABF63C8FD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907848-AC48-D9D7-BBD2-9A384D0267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A24FE-8DBF-EDCA-8081-8B03A7A98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C53A7-B963-194C-31D7-3C3B5909D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D833-DAEF-2544-9DC8-8A4E9A875075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9A1F3-6FD5-B338-5384-1E4AC57D0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D0826-53A0-9767-F233-74EE9C745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AF5A-40B7-D14F-BDC2-C8F218C58C3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logo with blue text&#10;&#10;AI-generated content may be incorrect.">
            <a:extLst>
              <a:ext uri="{FF2B5EF4-FFF2-40B4-BE49-F238E27FC236}">
                <a16:creationId xmlns:a16="http://schemas.microsoft.com/office/drawing/2014/main" id="{29DE3C30-4FA8-3048-002F-73C4BE75E5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0" y="80962"/>
            <a:ext cx="608239" cy="10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CC14C79D-0467-549C-7477-704B47ACDA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5288" y="179750"/>
            <a:ext cx="554332" cy="767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logo with blue text&#10;&#10;AI-generated content may be incorrect.">
            <a:extLst>
              <a:ext uri="{FF2B5EF4-FFF2-40B4-BE49-F238E27FC236}">
                <a16:creationId xmlns:a16="http://schemas.microsoft.com/office/drawing/2014/main" id="{97822725-30E3-8F96-6B59-62D64E8BC5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60" y="233362"/>
            <a:ext cx="608239" cy="10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EF4456C9-8B66-B4B5-B2D1-B44BBF75F4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7688" y="332150"/>
            <a:ext cx="554332" cy="7673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0633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7D44A-5242-B5EF-2B2F-28C4FFA7D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32C4C-C0D7-4CD5-3217-CEFEB8292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0BEB9-6B14-BBB0-0303-D3AF91B5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D833-DAEF-2544-9DC8-8A4E9A875075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E11B6-47E4-8D92-E44F-EEB89E3A9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E88C9-B919-A253-F510-9E61237D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AF5A-40B7-D14F-BDC2-C8F218C58C3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with blue text&#10;&#10;AI-generated content may be incorrect.">
            <a:extLst>
              <a:ext uri="{FF2B5EF4-FFF2-40B4-BE49-F238E27FC236}">
                <a16:creationId xmlns:a16="http://schemas.microsoft.com/office/drawing/2014/main" id="{78B97F09-99E3-B10D-6FAE-2B03DD377B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0" y="80962"/>
            <a:ext cx="608239" cy="10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7924099F-C563-7B0A-3ED9-E6B85E1084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5288" y="179750"/>
            <a:ext cx="554332" cy="7673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150D56-A12A-CDBB-6BD9-00A1AAFD52D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105156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943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346701-D806-2200-D077-60C8B54356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8EAB4B-9A7F-3813-EBF6-268EFDC38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E23FE-9455-CE59-EBC3-6D997AE5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D833-DAEF-2544-9DC8-8A4E9A875075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58DEE-FF1A-2648-E79D-6535F1F74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557C5-511A-D6AB-196B-A0821DBA4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AF5A-40B7-D14F-BDC2-C8F218C58C3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with blue text&#10;&#10;AI-generated content may be incorrect.">
            <a:extLst>
              <a:ext uri="{FF2B5EF4-FFF2-40B4-BE49-F238E27FC236}">
                <a16:creationId xmlns:a16="http://schemas.microsoft.com/office/drawing/2014/main" id="{C694171F-143F-2E38-1EE8-F648C8170D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0" y="80962"/>
            <a:ext cx="608239" cy="10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44A6D25B-9790-2A31-DBEA-3F7A121FC1C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5288" y="179750"/>
            <a:ext cx="554332" cy="7673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86561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7B060-1E21-82A6-9C4B-8C04BF3BA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37B1B-50BA-A37C-6284-9F80BA1CF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9441E-0EF9-4C5C-27B5-BE67A712E1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B6D833-DAEF-2544-9DC8-8A4E9A875075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542C8-9AB3-5BA0-A236-409DC8A6A7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AFFEA-10D7-7250-8C70-98D676866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8AF5A-40B7-D14F-BDC2-C8F218C58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445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4AB3C-BC14-595E-6825-20A54543D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2030" y="2210765"/>
            <a:ext cx="9035970" cy="1299198"/>
          </a:xfrm>
        </p:spPr>
        <p:txBody>
          <a:bodyPr>
            <a:normAutofit/>
          </a:bodyPr>
          <a:lstStyle/>
          <a:p>
            <a:r>
              <a:t>ZeroTrace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67A65-B7A6-E2FA-C977-6D97FA4CE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405223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defRPr b="1" sz="1700"/>
            </a:pPr>
            <a:r>
              <a:t>Cryptographic Text Watermarking &amp; Tamper Telemetry Engine</a:t>
            </a:r>
          </a:p>
          <a:p>
            <a:pPr>
              <a:spcAft>
                <a:spcPts val="300"/>
              </a:spcAft>
              <a:defRPr b="1" sz="1300"/>
            </a:pPr>
            <a:r>
              <a:t>Students:</a:t>
            </a:r>
          </a:p>
          <a:p>
            <a:pPr>
              <a:spcAft>
                <a:spcPts val="300"/>
              </a:spcAft>
              <a:defRPr sz="1200"/>
            </a:pPr>
            <a:r>
              <a:t>• Sreephaneesha Kanugovi (AM314)</a:t>
            </a:r>
          </a:p>
          <a:p>
            <a:pPr>
              <a:spcAft>
                <a:spcPts val="300"/>
              </a:spcAft>
              <a:defRPr sz="1200"/>
            </a:pPr>
            <a:r>
              <a:t>• Vivek Gowda S (AM355)</a:t>
            </a:r>
          </a:p>
          <a:p>
            <a:pPr>
              <a:spcAft>
                <a:spcPts val="1000"/>
              </a:spcAft>
              <a:defRPr sz="1200"/>
            </a:pPr>
            <a:r>
              <a:t>• Chandan R A (AM355)</a:t>
            </a:r>
          </a:p>
          <a:p>
            <a:pPr>
              <a:defRPr b="1" sz="1300"/>
            </a:pPr>
            <a:r>
              <a:t>Mentor: Dr Vidhya 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77780C-C091-0F1E-4895-83675C49F5DA}"/>
              </a:ext>
            </a:extLst>
          </p:cNvPr>
          <p:cNvSpPr txBox="1"/>
          <p:nvPr/>
        </p:nvSpPr>
        <p:spPr>
          <a:xfrm>
            <a:off x="1932972" y="747096"/>
            <a:ext cx="8189089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buNone/>
              <a:defRPr b="1" sz="1200"/>
            </a:pPr>
            <a:r>
              <a:t>DEPARTMENT OF CSE (AI &amp; ML)</a:t>
            </a:r>
            <a:endParaRPr lang="en-IN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300"/>
              </a:spcAft>
              <a:defRPr sz="1100"/>
            </a:pPr>
            <a:r>
              <a:t>Session: June - July 2026 | PI Labs Summer Internship</a:t>
            </a:r>
          </a:p>
          <a:p>
            <a:pPr>
              <a:defRPr sz="1100"/>
            </a:pPr>
            <a:r>
              <a:t>Final Evaluation Presentation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AC6FC2-E432-E438-C0DA-744ABA008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9455" y="270766"/>
            <a:ext cx="7747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251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500"/>
            </a:pPr>
            <a:r>
              <a:t>AI Provenance Risk: Generative LLMs need robust mechanisms to verify text origin and ownership.</a:t>
            </a:r>
          </a:p>
          <a:p>
            <a:pPr>
              <a:spcAft>
                <a:spcPts val="800"/>
              </a:spcAft>
              <a:defRPr sz="1500"/>
            </a:pPr>
            <a:r>
              <a:t>Vulnerable Steganography: Standard invisible watermarks break from 'frame shift' when text is edited.</a:t>
            </a:r>
          </a:p>
          <a:p>
            <a:pPr>
              <a:spcAft>
                <a:spcPts val="800"/>
              </a:spcAft>
              <a:defRPr sz="1500"/>
            </a:pPr>
            <a:r>
              <a:t>No Graded Telemetry: Existing systems give binary (yes/no) output rather than measuring tamper severity.</a:t>
            </a:r>
          </a:p>
          <a:p>
            <a:pPr>
              <a:spcAft>
                <a:spcPts val="800"/>
              </a:spcAft>
              <a:defRPr sz="1500"/>
            </a:pPr>
            <a:r>
              <a:t>Perceptibility Trade-off: Must hide watermarks visually while maintaining resilience against edits.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FD3EF9-DB0E-CF76-5068-ACAF67B91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9455" y="270766"/>
            <a:ext cx="7747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&amp;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600"/>
            </a:pPr>
            <a:r>
              <a:t>Zero-Width Steganography: Invisible bit hiding; simple but easily scrubbed by editing.</a:t>
            </a:r>
          </a:p>
          <a:p>
            <a:pPr>
              <a:spcAft>
                <a:spcPts val="800"/>
              </a:spcAft>
              <a:defRPr sz="1600"/>
            </a:pPr>
            <a:r>
              <a:t>Repetition Coding (3x/5x): Low correction capacity (1 bit/block) with very high overhead (300%+).</a:t>
            </a:r>
          </a:p>
          <a:p>
            <a:pPr>
              <a:spcAft>
                <a:spcPts val="800"/>
              </a:spcAft>
              <a:defRPr sz="1600"/>
            </a:pPr>
            <a:r>
              <a:t>Cryptographic Signatures: RSA verifies authenticity but breaks entirely if a single character is modified.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62C2C1-CAF8-6BB5-2DA9-8A2CB7D92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9455" y="270766"/>
            <a:ext cx="7747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Cryptographic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500"/>
            </a:pPr>
            <a:r>
              <a:t>RSA-2048 Signing: Server-side private key signing guarantees non-repudiation and origin validation.</a:t>
            </a:r>
          </a:p>
          <a:p>
            <a:pPr>
              <a:spcAft>
                <a:spcPts val="800"/>
              </a:spcAft>
              <a:defRPr sz="1500"/>
            </a:pPr>
            <a:r>
              <a:t>Document Binding: Embeds SHA-256 hash of clean text to block provenance transfer attacks.</a:t>
            </a:r>
          </a:p>
          <a:p>
            <a:pPr>
              <a:spcAft>
                <a:spcPts val="800"/>
              </a:spcAft>
              <a:defRPr sz="1500"/>
            </a:pPr>
            <a:r>
              <a:t>Keyed Placement Engine: Spreads bits pseudorandomly using HMAC-SHA256 (secret key + hash + nonce).</a:t>
            </a:r>
          </a:p>
          <a:p>
            <a:pPr>
              <a:spcAft>
                <a:spcPts val="800"/>
              </a:spcAft>
              <a:defRPr sz="1500"/>
            </a:pPr>
            <a:r>
              <a:t>ZW Unicode Channel: Invisible carriers (\u200B and \u200C) that survive standard copy-pasting.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DA75D8-DF08-4BB5-08E4-8E3CE3C6A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9455" y="270766"/>
            <a:ext cx="7747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5029200" cy="4389120"/>
          </a:xfrm>
        </p:spPr>
        <p:txBody>
          <a:bodyPr wrap="square"/>
          <a:lstStyle/>
          <a:p>
            <a:pPr>
              <a:spcAft>
                <a:spcPts val="800"/>
              </a:spcAft>
              <a:defRPr sz="1400"/>
            </a:pPr>
            <a:r>
              <a:t>Embed Flow: Text -&gt; RSA Sign -&gt; RS + BCH ECC -&gt; Keyed Placement -&gt; Zero-Width insertion.</a:t>
            </a:r>
          </a:p>
          <a:p>
            <a:pPr>
              <a:spcAft>
                <a:spcPts val="800"/>
              </a:spcAft>
              <a:defRPr sz="1400"/>
            </a:pPr>
            <a:r>
              <a:t>Concatenated ECC: Reed-Solomon outer (fixes bursts/deletes) + BCH inner (fixes single typos) provides strong error recovery.</a:t>
            </a:r>
          </a:p>
          <a:p>
            <a:pPr>
              <a:spcAft>
                <a:spcPts val="800"/>
              </a:spcAft>
              <a:defRPr sz="1400"/>
            </a:pPr>
            <a:r>
              <a:t>Extract Flow: Jaccard matches history -&gt; LCS aligns characters -&gt; decodes ECC -&gt; checks RSA signature.</a:t>
            </a:r>
          </a:p>
          <a:p>
            <a:pPr>
              <a:spcAft>
                <a:spcPts val="800"/>
              </a:spcAft>
              <a:defRPr sz="1400"/>
            </a:pPr>
            <a:r>
              <a:t>LCS Alignment: Aligning target against original converts text deletes into erasures, avoiding frame-shifts.</a:t>
            </a:r>
          </a:p>
        </p:txBody>
      </p:sp>
      <p:pic>
        <p:nvPicPr>
          <p:cNvPr id="4" name="Picture 3" descr="zerotrace_architecture_diagram_17834974248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645920"/>
            <a:ext cx="53949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500"/>
            </a:pPr>
            <a:r>
              <a:t>Backend Stack: Built using Node.js, Express, and TypeScript for modularity and performance.</a:t>
            </a:r>
            <a:endParaRPr dirty="0"/>
          </a:p>
          <a:p>
            <a:pPr>
              <a:spcAft>
                <a:spcPts val="800"/>
              </a:spcAft>
              <a:defRPr sz="1500"/>
            </a:pPr>
            <a:r>
              <a:t>Custom ECC Library: Custom-built Galois Field GF(2^8) math, Reed-Solomon, and BCH(255,191,8) codecs.</a:t>
            </a:r>
          </a:p>
          <a:p>
            <a:pPr>
              <a:spcAft>
                <a:spcPts val="800"/>
              </a:spcAft>
              <a:defRPr sz="1500"/>
            </a:pPr>
            <a:r>
              <a:t>Autonomous Web Agent: ToolLoopAgent (Vercel AI SDK + Mistral) using Tavily Search API for live facts.</a:t>
            </a:r>
          </a:p>
          <a:p>
            <a:pPr>
              <a:spcAft>
                <a:spcPts val="800"/>
              </a:spcAft>
              <a:defRPr sz="1500"/>
            </a:pPr>
            <a:r>
              <a:t>Interactive Dashboard: Frontend (HTML, CSS, JS) featuring live diff visualizers and telemetry logs.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447553-8228-3D18-491E-FD92A500B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9455" y="270766"/>
            <a:ext cx="7747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500"/>
            </a:pPr>
            <a:r>
              <a:t>100% Recovery on Copy-Paste: Zero-width bits extracted and RSA signature verified successfully.</a:t>
            </a:r>
          </a:p>
          <a:p>
            <a:pPr>
              <a:spcAft>
                <a:spcPts val="800"/>
              </a:spcAft>
              <a:defRPr sz="1500"/>
            </a:pPr>
            <a:r>
              <a:t>Robust to Block Deletions: LCS character alignment maps deletions, allowing RS outer code to repair blocks.</a:t>
            </a:r>
          </a:p>
          <a:p>
            <a:pPr>
              <a:spcAft>
                <a:spcPts val="800"/>
              </a:spcAft>
              <a:defRPr sz="1500"/>
            </a:pPr>
            <a:r>
              <a:t>Robust to Scattered Typos: BCH inner code corrects up to 8 random bit flips in each 255-bit block.</a:t>
            </a:r>
          </a:p>
          <a:p>
            <a:pPr>
              <a:spcAft>
                <a:spcPts val="800"/>
              </a:spcAft>
              <a:defRPr sz="1500"/>
            </a:pPr>
            <a:r>
              <a:t>Tamper Telemetry: Reports exact error correction logs (BCH/RS counts) to calculate a graded Integrity Score.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BA1810-D2A9-27A9-F48F-17A49577F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9455" y="270766"/>
            <a:ext cx="7747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 &amp; Extensions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500"/>
            </a:pPr>
            <a:r>
              <a:t>Adaptive Parity Scaling: Dynamically adjust ECC parity sizes based on text length to minimize overhead.</a:t>
            </a:r>
          </a:p>
          <a:p>
            <a:pPr>
              <a:spcAft>
                <a:spcPts val="800"/>
              </a:spcAft>
              <a:defRPr sz="1500"/>
            </a:pPr>
            <a:r>
              <a:t>Semantic-Aware Alignment: Integrate synonym mappings during alignment to withstand paraphrasing.</a:t>
            </a:r>
          </a:p>
          <a:p>
            <a:pPr>
              <a:spcAft>
                <a:spcPts val="800"/>
              </a:spcAft>
              <a:defRPr sz="1500"/>
            </a:pPr>
            <a:r>
              <a:t>Public Signature Registries: Create decentralized registries for transparent verifications.</a:t>
            </a:r>
          </a:p>
          <a:p>
            <a:pPr>
              <a:spcAft>
                <a:spcPts val="800"/>
              </a:spcAft>
              <a:defRPr sz="1500"/>
            </a:pPr>
            <a:r>
              <a:t>Multi-channel Steganography: Distribute bits across multiple invisible unicode character channels.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184</Words>
  <Application>Microsoft Macintosh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Project Title</vt:lpstr>
      <vt:lpstr>Problem Statement</vt:lpstr>
      <vt:lpstr>Literature Review / Background</vt:lpstr>
      <vt:lpstr>Literature Review / Background</vt:lpstr>
      <vt:lpstr>Methodology / Approach</vt:lpstr>
      <vt:lpstr>Work Done / Tools technologies used</vt:lpstr>
      <vt:lpstr>Results / Observations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Indu Radhakrishnan Research Scholar</dc:creator>
  <cp:lastModifiedBy>indu radhakrishnan</cp:lastModifiedBy>
  <cp:revision>4</cp:revision>
  <dcterms:created xsi:type="dcterms:W3CDTF">2025-06-18T06:32:55Z</dcterms:created>
  <dcterms:modified xsi:type="dcterms:W3CDTF">2026-07-02T03:38:40Z</dcterms:modified>
</cp:coreProperties>
</file>