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7" r:id="rId6"/>
    <p:sldId id="261" r:id="rId7"/>
    <p:sldId id="262" r:id="rId8"/>
    <p:sldId id="263" r:id="rId9"/>
    <p:sldId id="268" r:id="rId10"/>
    <p:sldId id="269" r:id="rId11"/>
    <p:sldId id="270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/>
    <p:restoredTop sz="94667"/>
  </p:normalViewPr>
  <p:slideViewPr>
    <p:cSldViewPr snapToGrid="0">
      <p:cViewPr>
        <p:scale>
          <a:sx n="75" d="100"/>
          <a:sy n="75" d="100"/>
        </p:scale>
        <p:origin x="88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2C9A3-FD4D-4CB2-93BB-F08AEC46424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B0333-EF1E-4CFF-8EAB-59F57639DB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0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B0333-EF1E-4CFF-8EAB-59F57639DBA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033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B323-E331-E835-F2F1-F031F1724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D6BE8-B8FA-8318-BC0C-1CCD1E90C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B3700-2FD9-1692-064A-5BDE2827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1C791-3044-D408-51DC-3A317CBC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21C4-ACBF-FFD8-25B5-69C0A196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F80696F0-30FE-B5A9-8100-A8FA517A26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80A68DAF-4D65-C2F7-42E2-8AEFF663BA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6" y="179750"/>
            <a:ext cx="554332" cy="972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01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6AB9-9E84-9587-5066-CF876A8D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5425-603B-38DF-17CD-44DB408CF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F9E4B-FF1B-62F6-BB14-20C3A7A8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937B-7F66-8DEE-D47A-965A4353F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0A05C-E8F9-1CDA-943C-313934B2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194B4D19-6C9F-5071-7BC1-48C89AB6BE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B93730B3-C08F-2713-D282-F1AB7D43D6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8CB701-C9E1-16E7-7475-F2FA5A6F13F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29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07BE-90F3-450D-C015-5BDD6003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9595C-CFCB-A99F-5E7F-D5D88D863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27CE-D34A-ECCB-A321-E9A2BD00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5E0A9-C9BF-458B-811A-6F8F5621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3EA62-9B52-8C49-2D66-A64CEDC2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7962DD91-90AA-83BF-6F8B-2849CF118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07E87B1D-A1A2-5DC3-599D-0EDD1F242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340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7D84-38D5-81F5-A1C6-37BBFCA0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AD7-98F3-D713-0315-80CD5C3B8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517A7-4376-5C51-263D-14557DECD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4B58C-210B-67D9-B954-EF4FCC59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0ED64-2B24-F336-C958-466738F8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043E8-2F08-6AF7-3B3D-FEFFE62D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BB8548E9-EC81-E9BF-BD5D-ADFCB0042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38E457EB-0416-ADBE-B9A0-A4E786E432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F9A6D8-E4F0-0E28-F4FD-701DB2E55B8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006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76CB-4326-2871-7FB7-4CF68D8E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69E30-09CF-358F-B508-13A566DF8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AD037-42FA-A5F2-276F-2BCD1B86F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A3AF3-820B-2231-06A4-0B6673A6D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43CBA-D933-6F24-903F-E0EABE00E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5B7FE2-218F-5ED3-E9FD-0B4EBC92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BFFCF-C50D-2CE2-D276-E51B5CB5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F7087-CAE1-C821-49DB-0503112D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logo with blue text&#10;&#10;AI-generated content may be incorrect.">
            <a:extLst>
              <a:ext uri="{FF2B5EF4-FFF2-40B4-BE49-F238E27FC236}">
                <a16:creationId xmlns:a16="http://schemas.microsoft.com/office/drawing/2014/main" id="{5C93EB93-7188-DEFF-8329-5BA0E0226A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15887B93-E72F-15D8-5D37-FF2A082EC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AC0DFF-A461-5E84-543B-4F1D1DCC189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59D3-E17B-4D51-47EB-ED0A20C7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C82FB-1179-BB95-E761-EFA89977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077B8-FBAF-0DF3-E243-1324450B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4FB11-2633-F0C1-9E02-85C7F45E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logo with blue text&#10;&#10;AI-generated content may be incorrect.">
            <a:extLst>
              <a:ext uri="{FF2B5EF4-FFF2-40B4-BE49-F238E27FC236}">
                <a16:creationId xmlns:a16="http://schemas.microsoft.com/office/drawing/2014/main" id="{9079D415-94A7-C37C-EEB1-2D04F873F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BE3A9754-6287-900A-F5C6-C36056E1F9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94842C-7E36-8788-B85E-F3145E8F4BE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28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80AF3-E9D5-03B9-09DC-2C3C3915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9ED59-4243-EA4D-AF84-BCDC031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3A03C-1C53-59F7-9BF5-E021B286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logo with blue text&#10;&#10;AI-generated content may be incorrect.">
            <a:extLst>
              <a:ext uri="{FF2B5EF4-FFF2-40B4-BE49-F238E27FC236}">
                <a16:creationId xmlns:a16="http://schemas.microsoft.com/office/drawing/2014/main" id="{A8989F02-D3D6-E68A-01C4-C6D211B97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CC55353F-3454-E02C-1F36-8CC752A512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9330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4F75-CEB9-93DE-74DF-96934FD7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46C0-BE5E-0F86-9463-B930A77B2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CCEC-7FE7-37BE-D105-C2CD9A39A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80F73-A419-3EFB-F43C-B0549BB4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C454A-2DEB-1997-E671-8EEDF17E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74A0E-17EF-585E-32F1-B47DA50B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23A6AEE7-FFAE-8725-39A5-2D719BFB0B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11F52BA4-EADC-464F-83C4-83F0EA2812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95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1B4D-955C-BAE4-95ED-ABF63C8F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07848-AC48-D9D7-BBD2-9A384D026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A24FE-8DBF-EDCA-8081-8B03A7A98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C53A7-B963-194C-31D7-3C3B5909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9A1F3-6FD5-B338-5384-1E4AC57D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D0826-53A0-9767-F233-74EE9C74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blue text&#10;&#10;AI-generated content may be incorrect.">
            <a:extLst>
              <a:ext uri="{FF2B5EF4-FFF2-40B4-BE49-F238E27FC236}">
                <a16:creationId xmlns:a16="http://schemas.microsoft.com/office/drawing/2014/main" id="{29DE3C30-4FA8-3048-002F-73C4BE75E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CC14C79D-0467-549C-7477-704B47ACDA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logo with blue text&#10;&#10;AI-generated content may be incorrect.">
            <a:extLst>
              <a:ext uri="{FF2B5EF4-FFF2-40B4-BE49-F238E27FC236}">
                <a16:creationId xmlns:a16="http://schemas.microsoft.com/office/drawing/2014/main" id="{97822725-30E3-8F96-6B59-62D64E8BC5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0" y="2333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EF4456C9-8B66-B4B5-B2D1-B44BBF75F4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688" y="3321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063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D44A-5242-B5EF-2B2F-28C4FFA7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32C4C-C0D7-4CD5-3217-CEFEB8292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BEB9-6B14-BBB0-0303-D3AF91B5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E11B6-47E4-8D92-E44F-EEB89E3A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E88C9-B919-A253-F510-9E61237D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78B97F09-99E3-B10D-6FAE-2B03DD377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7924099F-C563-7B0A-3ED9-E6B85E108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150D56-A12A-CDBB-6BD9-00A1AAFD52D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94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346701-D806-2200-D077-60C8B5435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EAB4B-9A7F-3813-EBF6-268EFDC38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E23FE-9455-CE59-EBC3-6D997AE5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58DEE-FF1A-2648-E79D-6535F1F7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57C5-511A-D6AB-196B-A0821DBA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blue text&#10;&#10;AI-generated content may be incorrect.">
            <a:extLst>
              <a:ext uri="{FF2B5EF4-FFF2-40B4-BE49-F238E27FC236}">
                <a16:creationId xmlns:a16="http://schemas.microsoft.com/office/drawing/2014/main" id="{C694171F-143F-2E38-1EE8-F648C8170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0" y="80962"/>
            <a:ext cx="608239" cy="10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44A6D25B-9790-2A31-DBEA-3F7A121FC1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288" y="179750"/>
            <a:ext cx="554332" cy="767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865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B060-1E21-82A6-9C4B-8C04BF3B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37B1B-50BA-A37C-6284-9F80BA1CF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441E-0EF9-4C5C-27B5-BE67A712E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B6D833-DAEF-2544-9DC8-8A4E9A87507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542C8-9AB3-5BA0-A236-409DC8A6A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AFFEA-10D7-7250-8C70-98D676866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8AF5A-40B7-D14F-BDC2-C8F218C58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4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77780C-C091-0F1E-4895-83675C49F5DA}"/>
              </a:ext>
            </a:extLst>
          </p:cNvPr>
          <p:cNvSpPr txBox="1"/>
          <p:nvPr/>
        </p:nvSpPr>
        <p:spPr>
          <a:xfrm>
            <a:off x="2001455" y="850740"/>
            <a:ext cx="818908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DEPARTMENT OF CSE (AI &amp; ML)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IN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Session: June – July 2026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3200" b="1" dirty="0"/>
              <a:t>PI Labs Summer Internship </a:t>
            </a:r>
          </a:p>
          <a:p>
            <a:pPr algn="ctr"/>
            <a:r>
              <a:rPr lang="en-US" sz="3200" b="1" dirty="0"/>
              <a:t>Final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C6FC2-E432-E438-C0DA-744ABA00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1358E73-5847-410B-D722-188CF9B79FEA}"/>
              </a:ext>
            </a:extLst>
          </p:cNvPr>
          <p:cNvSpPr txBox="1">
            <a:spLocks/>
          </p:cNvSpPr>
          <p:nvPr/>
        </p:nvSpPr>
        <p:spPr>
          <a:xfrm>
            <a:off x="1578014" y="2578402"/>
            <a:ext cx="9035970" cy="12991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ZeroTrace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505EDCC-1CF5-70AB-06D2-0A17CC19B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14" y="3975663"/>
            <a:ext cx="9144000" cy="240522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17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Text Watermarking &amp; Tamper Telemetry Engine</a:t>
            </a:r>
          </a:p>
          <a:p>
            <a:pPr>
              <a:spcAft>
                <a:spcPts val="300"/>
              </a:spcAft>
              <a:defRPr sz="1300" b="1"/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</a:p>
          <a:p>
            <a:pPr>
              <a:spcAft>
                <a:spcPts val="300"/>
              </a:spcAft>
              <a:defRPr sz="1200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reephaneesha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Kanugovi (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PES1UG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AM314)</a:t>
            </a:r>
          </a:p>
          <a:p>
            <a:pPr>
              <a:spcAft>
                <a:spcPts val="300"/>
              </a:spcAft>
              <a:defRPr sz="1200"/>
            </a:pP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Vivek Gowda S (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PES1UG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AM355)</a:t>
            </a:r>
          </a:p>
          <a:p>
            <a:pPr>
              <a:spcAft>
                <a:spcPts val="1000"/>
              </a:spcAft>
              <a:defRPr sz="1200"/>
            </a:pP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Chandan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PES1UG</a:t>
            </a: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AM355)</a:t>
            </a:r>
          </a:p>
          <a:p>
            <a:pPr>
              <a:defRPr sz="1300" b="1"/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Dr Vidhya K</a:t>
            </a:r>
          </a:p>
        </p:txBody>
      </p:sp>
    </p:spTree>
    <p:extLst>
      <p:ext uri="{BB962C8B-B14F-4D97-AF65-F5344CB8AC3E}">
        <p14:creationId xmlns:p14="http://schemas.microsoft.com/office/powerpoint/2010/main" val="149225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800"/>
              </a:spcAft>
              <a:defRPr sz="15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Provenance Risk: Generative LLMs need robust mechanisms to verify text origin and ownership.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Steganography: Standard invisible watermarks break from 'frame shift' when text is edited.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Graded Telemetry: Existing systems give binary (yes/no) output rather than measuring tamper severity.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Perceptibility Trade-off: Must hide watermarks visually while maintaining resilience against edits.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D3EF9-DB0E-CF76-5068-ACAF67B91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800"/>
              </a:spcAft>
              <a:defRPr sz="16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Zero-Width Steganography: Invisible bit hiding; simple but easily scrubbed by editing.</a:t>
            </a:r>
          </a:p>
          <a:p>
            <a:pPr algn="just">
              <a:spcAft>
                <a:spcPts val="800"/>
              </a:spcAft>
              <a:defRPr sz="16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Coding (3x/5x): Low correction capacity (1 bit/block) with very high overhead (300%+).</a:t>
            </a:r>
          </a:p>
          <a:p>
            <a:pPr algn="just">
              <a:spcAft>
                <a:spcPts val="800"/>
              </a:spcAft>
              <a:defRPr sz="16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Signatures: RSA verifies authenticity but breaks entirely if a single character is modified.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2C2C1-CAF8-6BB5-2DA9-8A2CB7D92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RSA-2048 Signing: Server-side private key signing guarantees non-repudiation and origin validation.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Binding: Embeds SHA-256 hash of clean text to block provenance transfer attacks.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Keyed Placement Engine: Spreads bits pseudo randomly using HMAC-SHA256 (secret key + hash + nonce).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ZW Unicode Channel: Invisible carriers (\u200B and \u200C) that survive standard copy-pasting.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A75D8-DF08-4BB5-08E4-8E3CE3C6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917290"/>
            <a:ext cx="10622280" cy="4117750"/>
          </a:xfrm>
        </p:spPr>
        <p:txBody>
          <a:bodyPr wrap="square">
            <a:normAutofit/>
          </a:bodyPr>
          <a:lstStyle/>
          <a:p>
            <a:pPr algn="just">
              <a:spcAft>
                <a:spcPts val="800"/>
              </a:spcAft>
              <a:defRPr sz="14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Flow: Text -&gt; RSA Sign -&gt; RS + BCH ECC -&gt; Keyed Placement -&gt; Zero-Width insertion.</a:t>
            </a:r>
          </a:p>
          <a:p>
            <a:pPr algn="just">
              <a:spcAft>
                <a:spcPts val="800"/>
              </a:spcAft>
              <a:defRPr sz="14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Concatenated ECC: Reed-Solomon outer (fixes bursts/deletes) + BCH inner (fixes single typos) provides strong error recovery.</a:t>
            </a:r>
          </a:p>
          <a:p>
            <a:pPr algn="just">
              <a:spcAft>
                <a:spcPts val="800"/>
              </a:spcAft>
              <a:defRPr sz="14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Flow: Jaccard matches history -&gt; LCS aligns characters -&gt; decodes ECC -&gt; checks RSA signature.</a:t>
            </a:r>
          </a:p>
          <a:p>
            <a:pPr algn="just">
              <a:spcAft>
                <a:spcPts val="800"/>
              </a:spcAft>
              <a:defRPr sz="14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Alignment: Aligning target against original converts text deletes into erasures, avoiding frame-shifts.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24985-C9C9-A57B-19F2-0F78119AA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B7C87-F41A-4FB4-6819-0D0104E3A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/ Tools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Stack: Built using Node.js, Express, and TypeScript for modularity and performance.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ECC Library: Custom-built Galois Field GF(2^8) math, Reed-Solomon, and BCH(255,191,8) codecs.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Web Agent: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ToolLoopAgent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SDK + Mistral) using Tavily Search API for live facts.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 Frontend (HTML, CSS, JS) featuring live diff visualizers and telemetry logs.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47553-8228-3D18-491E-FD92A500B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Recovery on Copy-Paste: Zero-width bits extracted and RSA signature verified successfully.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to Block Deletions: LCS character alignment maps deletions, allowing RS outer code to repair blocks.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to Scattered Typos: BCH inner code corrects up to 8 random bit flips in each 255-bit block.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 Telemetry: Reports exact error correction logs (BCH/RS counts) to calculate a graded Integrity Score.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A1810-D2A9-27A9-F48F-17A49577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F7D0C-7EDA-DA0C-ECBB-C9C76A4D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677A-17EF-549B-4AE0-203D67F7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Observations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7951D-D560-AF9B-C08C-422DDABAD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BF6385-1DA7-8949-A3FC-831711C46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173" r="6691" b="3508"/>
          <a:stretch>
            <a:fillRect/>
          </a:stretch>
        </p:blipFill>
        <p:spPr>
          <a:xfrm>
            <a:off x="838200" y="1874787"/>
            <a:ext cx="4080387" cy="2862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B8B608-F14C-DCEA-FAAF-ABC1C7D453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83" r="24057"/>
          <a:stretch>
            <a:fillRect/>
          </a:stretch>
        </p:blipFill>
        <p:spPr>
          <a:xfrm>
            <a:off x="5004619" y="1874787"/>
            <a:ext cx="3755922" cy="28623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E97EEF-AB1C-0745-6184-7D5CF50721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85" t="12538" r="3992" b="35648"/>
          <a:stretch>
            <a:fillRect/>
          </a:stretch>
        </p:blipFill>
        <p:spPr>
          <a:xfrm>
            <a:off x="5004619" y="4849874"/>
            <a:ext cx="6528619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5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C30F-9A17-AE81-E7E2-AC9AE379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7D34-4FD2-D1A7-77A4-1B7F5D15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Observations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E1C47-ADCE-C142-E64F-9D60BC22A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3EF619-06BA-A271-03CF-DB26D12793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5" r="3992" b="14635"/>
          <a:stretch>
            <a:fillRect/>
          </a:stretch>
        </p:blipFill>
        <p:spPr>
          <a:xfrm>
            <a:off x="4825181" y="1855123"/>
            <a:ext cx="6528619" cy="2862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31D8A-80B2-5100-CD7C-9AEA375AB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0" y="1785047"/>
            <a:ext cx="4373927" cy="286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5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40A3-F06B-E5E8-3B8C-7BD4D6160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F7F4-253E-4C69-74BC-52F96AAA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Observations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B2F7A-D47B-C679-A869-657E90310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455" y="270766"/>
            <a:ext cx="774700" cy="67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6DD7F5-F2B5-D25A-E58D-4DA0EB143D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476"/>
          <a:stretch>
            <a:fillRect/>
          </a:stretch>
        </p:blipFill>
        <p:spPr>
          <a:xfrm>
            <a:off x="700548" y="1739848"/>
            <a:ext cx="5874614" cy="3072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A2A096-0C2D-6A60-21DF-D47727C987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2" t="65706" b="5992"/>
          <a:stretch>
            <a:fillRect/>
          </a:stretch>
        </p:blipFill>
        <p:spPr>
          <a:xfrm>
            <a:off x="5004083" y="4821391"/>
            <a:ext cx="6487369" cy="167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66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Parity Scaling: Dynamically adjust ECC parity sizes based on text length to minimize overhead.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Semantic-Aware Alignment: Integrate synonym mappings during alignment to withstand paraphrasing.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Signature Registries: Create decentralized registries for transparent verifications.</a:t>
            </a:r>
          </a:p>
          <a:p>
            <a:pPr algn="just">
              <a:spcAft>
                <a:spcPts val="800"/>
              </a:spcAft>
              <a:defRPr sz="15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Multi-channel Steganography: Distribute bits across multiple invisible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554</Words>
  <Application>Microsoft Office PowerPoint</Application>
  <PresentationFormat>Widescreen</PresentationFormat>
  <Paragraphs>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Problem Statement</vt:lpstr>
      <vt:lpstr>Literature Review / Background</vt:lpstr>
      <vt:lpstr>Cryptographic Architecture</vt:lpstr>
      <vt:lpstr>Methodology &amp; Approach</vt:lpstr>
      <vt:lpstr>Methodology / Approach</vt:lpstr>
      <vt:lpstr>Work Done / Tools technologies used</vt:lpstr>
      <vt:lpstr>Results / Observations</vt:lpstr>
      <vt:lpstr>Results / Observations</vt:lpstr>
      <vt:lpstr>Results / Observations</vt:lpstr>
      <vt:lpstr>Results / Observations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Indu Radhakrishnan Research Scholar</dc:creator>
  <cp:lastModifiedBy>sreephaneesh kanugovi</cp:lastModifiedBy>
  <cp:revision>10</cp:revision>
  <dcterms:created xsi:type="dcterms:W3CDTF">2025-06-18T06:32:55Z</dcterms:created>
  <dcterms:modified xsi:type="dcterms:W3CDTF">2026-07-08T08:44:38Z</dcterms:modified>
</cp:coreProperties>
</file>